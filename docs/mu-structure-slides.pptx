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822960"/>
            <a:ext cx="5212080" cy="5212080"/>
          </a:xfrm>
          <a:prstGeom prst="ellipse">
            <a:avLst/>
          </a:prstGeom>
          <a:ln w="15875">
            <a:solidFill>
              <a:srgbClr val="4A4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1508760"/>
            <a:ext cx="3840480" cy="3840480"/>
          </a:xfrm>
          <a:prstGeom prst="ellipse">
            <a:avLst/>
          </a:prstGeom>
          <a:ln w="15875">
            <a:solidFill>
              <a:srgbClr val="8C8C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2194560"/>
            <a:ext cx="2468880" cy="2468880"/>
          </a:xfrm>
          <a:prstGeom prst="ellipse">
            <a:avLst/>
          </a:prstGeom>
          <a:ln w="19050">
            <a:solidFill>
              <a:srgbClr val="E9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2880360"/>
            <a:ext cx="1097280" cy="1097280"/>
          </a:xfrm>
          <a:prstGeom prst="ellipse">
            <a:avLst/>
          </a:prstGeom>
          <a:ln w="31750">
            <a:solidFill>
              <a:srgbClr val="C73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93408" y="5669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62288" y="312724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E9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きわめてミニマルな汎用エージェント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04164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与えられたゴールに向かって PDCA を回し、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人間の逐次介入なしに自立実行する。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プロジェクト構造の概要　·　2026-08　·　v0（L0〜L4 実装済み）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3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コンセプト — 三原則と「ミニマル」の中身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9584" cy="2286000"/>
          </a:xfrm>
          <a:prstGeom prst="roundRect">
            <a:avLst>
              <a:gd name="adj" fmla="val 3600"/>
            </a:avLst>
          </a:prstGeom>
          <a:solidFill>
            <a:srgbClr val="F5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91640"/>
            <a:ext cx="658368" cy="658368"/>
          </a:xfrm>
          <a:prstGeom prst="ellipse">
            <a:avLst/>
          </a:prstGeom>
          <a:solidFill>
            <a:srgbClr val="2B2B3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1755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シンプル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分かりやすい。足場は極薄にし、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知能は LLM に委ねる。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1371600"/>
            <a:ext cx="3529584" cy="2286000"/>
          </a:xfrm>
          <a:prstGeom prst="roundRect">
            <a:avLst>
              <a:gd name="adj" fmla="val 3600"/>
            </a:avLst>
          </a:prstGeom>
          <a:solidFill>
            <a:srgbClr val="F5F5F6"/>
          </a:solidFill>
          <a:ln/>
        </p:spPr>
      </p:sp>
      <p:sp>
        <p:nvSpPr>
          <p:cNvPr id="11" name="Shape 9"/>
          <p:cNvSpPr/>
          <p:nvPr/>
        </p:nvSpPr>
        <p:spPr>
          <a:xfrm>
            <a:off x="4654296" y="1691640"/>
            <a:ext cx="658368" cy="658368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77256" y="1755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ミニマル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54296" y="2514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最小。登場する要素・語彙を絞り、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核となる仕組みだけを残す。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1371600"/>
            <a:ext cx="3529584" cy="2286000"/>
          </a:xfrm>
          <a:prstGeom prst="roundRect">
            <a:avLst>
              <a:gd name="adj" fmla="val 3600"/>
            </a:avLst>
          </a:prstGeom>
          <a:solidFill>
            <a:srgbClr val="F5F5F6"/>
          </a:solidFill>
          <a:ln/>
        </p:spPr>
      </p:sp>
      <p:sp>
        <p:nvSpPr>
          <p:cNvPr id="16" name="Shape 14"/>
          <p:cNvSpPr/>
          <p:nvPr/>
        </p:nvSpPr>
        <p:spPr>
          <a:xfrm>
            <a:off x="8439912" y="1691640"/>
            <a:ext cx="658368" cy="658368"/>
          </a:xfrm>
          <a:prstGeom prst="ellipse">
            <a:avLst/>
          </a:prstGeom>
          <a:solidFill>
            <a:srgbClr val="2B2B30"/>
          </a:solidFill>
          <a:ln/>
        </p:spPr>
      </p:sp>
      <p:sp>
        <p:nvSpPr>
          <p:cNvPr id="17" name="Text 15"/>
          <p:cNvSpPr/>
          <p:nvPr/>
        </p:nvSpPr>
        <p:spPr>
          <a:xfrm>
            <a:off x="8439912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62872" y="1755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本質的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39912" y="2514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核だけ。エージェントの本質である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「ループ」を直接コードにする。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「ミニマル」で最小化する 4 つの対象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0704" y="4590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機構の薄さ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13892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足場を極薄に。知能は LLM に委ねる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4617720"/>
            <a:ext cx="384048" cy="384048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26" name="Text 24"/>
          <p:cNvSpPr/>
          <p:nvPr/>
        </p:nvSpPr>
        <p:spPr>
          <a:xfrm>
            <a:off x="3410712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22776" y="4590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概念の少なさ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10712" y="513892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登場する要素・語彙を絞る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2784" y="4617720"/>
            <a:ext cx="384048" cy="384048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30" name="Text 28"/>
          <p:cNvSpPr/>
          <p:nvPr/>
        </p:nvSpPr>
        <p:spPr>
          <a:xfrm>
            <a:off x="6272784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84848" y="4590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依存とコード量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272784" y="513892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依存は ollama + httpx のみ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34856" y="4617720"/>
            <a:ext cx="384048" cy="384048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34" name="Text 32"/>
          <p:cNvSpPr/>
          <p:nvPr/>
        </p:nvSpPr>
        <p:spPr>
          <a:xfrm>
            <a:off x="9134856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46920" y="4590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状態・記憶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134856" y="513892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内部状態を最小に（各層は無状態）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3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中核思想 — 自律性の層（Layers of Autonomy）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1115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mu は入れ子のループでできている。内側ほど非自律・外へ行くほど自律的。一番内側の非自律な核を固め、自律性を一枚ずつ外へ重ねて育てる。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17320" y="1874520"/>
            <a:ext cx="9601200" cy="804672"/>
          </a:xfrm>
          <a:prstGeom prst="roundRect">
            <a:avLst>
              <a:gd name="adj" fmla="val 7955"/>
            </a:avLst>
          </a:prstGeom>
          <a:solidFill>
            <a:srgbClr val="FBEFEF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2048256"/>
            <a:ext cx="457200" cy="457200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12848" y="1947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目的の層（Director）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212848" y="22860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 → 仕様化(PdM)・プロセス編成(PjM)。役割を着せた L3 で複雑な目的を完遂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0" y="1947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3E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自律性 より高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73352" y="2788920"/>
            <a:ext cx="9089136" cy="804672"/>
          </a:xfrm>
          <a:prstGeom prst="roundRect">
            <a:avLst>
              <a:gd name="adj" fmla="val 7955"/>
            </a:avLst>
          </a:prstGeom>
          <a:solidFill>
            <a:srgbClr val="F5F5F6"/>
          </a:solidFill>
          <a:ln/>
        </p:spPr>
      </p:sp>
      <p:sp>
        <p:nvSpPr>
          <p:cNvPr id="13" name="Shape 11"/>
          <p:cNvSpPr/>
          <p:nvPr/>
        </p:nvSpPr>
        <p:spPr>
          <a:xfrm>
            <a:off x="1856232" y="2962656"/>
            <a:ext cx="457200" cy="457200"/>
          </a:xfrm>
          <a:prstGeom prst="ellipse">
            <a:avLst/>
          </a:prstGeom>
          <a:solidFill>
            <a:srgbClr val="2B2B30"/>
          </a:solidFill>
          <a:ln/>
        </p:spPr>
      </p:sp>
      <p:sp>
        <p:nvSpPr>
          <p:cNvPr id="14" name="Text 12"/>
          <p:cNvSpPr/>
          <p:nvPr/>
        </p:nvSpPr>
        <p:spPr>
          <a:xfrm>
            <a:off x="1856232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862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大域 Plan（オーケストレータ）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468880" y="3200400"/>
            <a:ext cx="7351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 を単位として組み合わせ、複雑ゴールを完遂。PDCA が完全体で現れる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0" y="286207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自律性 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29384" y="3703320"/>
            <a:ext cx="8577072" cy="804672"/>
          </a:xfrm>
          <a:prstGeom prst="roundRect">
            <a:avLst>
              <a:gd name="adj" fmla="val 7955"/>
            </a:avLst>
          </a:prstGeom>
          <a:solidFill>
            <a:srgbClr val="F5F5F6"/>
          </a:solidFill>
          <a:ln/>
        </p:spPr>
      </p:sp>
      <p:sp>
        <p:nvSpPr>
          <p:cNvPr id="19" name="Shape 17"/>
          <p:cNvSpPr/>
          <p:nvPr/>
        </p:nvSpPr>
        <p:spPr>
          <a:xfrm>
            <a:off x="2112264" y="3877056"/>
            <a:ext cx="457200" cy="457200"/>
          </a:xfrm>
          <a:prstGeom prst="ellipse">
            <a:avLst/>
          </a:prstGeom>
          <a:solidFill>
            <a:srgbClr val="2B2B30"/>
          </a:solidFill>
          <a:ln/>
        </p:spPr>
      </p:sp>
      <p:sp>
        <p:nvSpPr>
          <p:cNvPr id="20" name="Text 18"/>
          <p:cNvSpPr/>
          <p:nvPr/>
        </p:nvSpPr>
        <p:spPr>
          <a:xfrm>
            <a:off x="2112264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24912" y="3776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Reflect ループ（エージェント）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24912" y="4114800"/>
            <a:ext cx="6839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D=L1 を Reflect（Check+Act）で包み、ゴール達成まで回す。PDCA が明示的に現れる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0" y="3776472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自律性 中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85416" y="4617720"/>
            <a:ext cx="8065008" cy="804672"/>
          </a:xfrm>
          <a:prstGeom prst="roundRect">
            <a:avLst>
              <a:gd name="adj" fmla="val 7955"/>
            </a:avLst>
          </a:prstGeom>
          <a:solidFill>
            <a:srgbClr val="F5F5F6"/>
          </a:solidFill>
          <a:ln/>
        </p:spPr>
      </p:sp>
      <p:sp>
        <p:nvSpPr>
          <p:cNvPr id="25" name="Shape 23"/>
          <p:cNvSpPr/>
          <p:nvPr/>
        </p:nvSpPr>
        <p:spPr>
          <a:xfrm>
            <a:off x="2368296" y="4791456"/>
            <a:ext cx="457200" cy="457200"/>
          </a:xfrm>
          <a:prstGeom prst="ellipse">
            <a:avLst/>
          </a:prstGeom>
          <a:solidFill>
            <a:srgbClr val="2B2B30"/>
          </a:solidFill>
          <a:ln/>
        </p:spPr>
      </p:sp>
      <p:sp>
        <p:nvSpPr>
          <p:cNvPr id="26" name="Text 24"/>
          <p:cNvSpPr/>
          <p:nvPr/>
        </p:nvSpPr>
        <p:spPr>
          <a:xfrm>
            <a:off x="2368296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80944" y="4690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ツールコールのループ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980944" y="5029200"/>
            <a:ext cx="632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モデルが選んだツールを mu が実行し、結果を戻して再び問う（＝行動する / Do）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0" y="469087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自律性 低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41448" y="5532120"/>
            <a:ext cx="7552944" cy="804672"/>
          </a:xfrm>
          <a:prstGeom prst="roundRect">
            <a:avLst>
              <a:gd name="adj" fmla="val 7955"/>
            </a:avLst>
          </a:prstGeom>
          <a:solidFill>
            <a:srgbClr val="F5F5F6"/>
          </a:solidFill>
          <a:ln/>
        </p:spPr>
      </p:sp>
      <p:sp>
        <p:nvSpPr>
          <p:cNvPr id="31" name="Shape 29"/>
          <p:cNvSpPr/>
          <p:nvPr/>
        </p:nvSpPr>
        <p:spPr>
          <a:xfrm>
            <a:off x="2624328" y="5705856"/>
            <a:ext cx="457200" cy="457200"/>
          </a:xfrm>
          <a:prstGeom prst="ellipse">
            <a:avLst/>
          </a:prstGeom>
          <a:solidFill>
            <a:srgbClr val="4A4A52"/>
          </a:solidFill>
          <a:ln/>
        </p:spPr>
      </p:sp>
      <p:sp>
        <p:nvSpPr>
          <p:cNvPr id="32" name="Text 30"/>
          <p:cNvSpPr/>
          <p:nvPr/>
        </p:nvSpPr>
        <p:spPr>
          <a:xfrm>
            <a:off x="2624328" y="5705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36976" y="5605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Ollama インタフェース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236976" y="5943600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Ollama を呼び応答を得る。接続とモデル可用性を安定化・理想化する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0" y="560527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自律性 ゼロ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4400" y="6172200"/>
            <a:ext cx="0" cy="-4160520"/>
          </a:xfrm>
          <a:prstGeom prst="line">
            <a:avLst/>
          </a:prstGeom>
          <a:noFill/>
          <a:ln w="25400">
            <a:solidFill>
              <a:srgbClr val="C73E3A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75488" y="320040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73E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73E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律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73E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17320" y="6446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再帰同一構造 — 「内側ループ → Reflect → 続行/停止」の形が全層で繰り返される。再帰の底（最上位の停止）は人間。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3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内側の層 — L0 / L1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5120640"/>
          </a:xfrm>
          <a:prstGeom prst="roundRect">
            <a:avLst>
              <a:gd name="adj" fmla="val 1607"/>
            </a:avLst>
          </a:prstGeom>
          <a:solidFill>
            <a:srgbClr val="F5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572768"/>
            <a:ext cx="502920" cy="502920"/>
          </a:xfrm>
          <a:prstGeom prst="ellipse">
            <a:avLst/>
          </a:prstGeom>
          <a:solidFill>
            <a:srgbClr val="4A4A5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572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Ollama インタフェース層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責務はただ一つ — 上位の層に「常に安定して応答が返る、理想化された LLM」を見せる。判断はしない。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3072384"/>
            <a:ext cx="128016" cy="128016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11" name="Text 9"/>
          <p:cNvSpPr/>
          <p:nvPr/>
        </p:nvSpPr>
        <p:spPr>
          <a:xfrm>
            <a:off x="1152144" y="2962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推論の呼び出し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52144" y="32552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/api/generate・/api/chat（tool calling 対応）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" y="3785616"/>
            <a:ext cx="128016" cy="128016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144" y="3675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モデル可用性の保証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2144" y="39684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モデルが無ければ黙って pull。上位には常に居るように見せる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6112" y="4498848"/>
            <a:ext cx="128016" cy="128016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52144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接続の安定化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" y="4681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リトライ／指数バックオフ＋ジッタ／タイムアウト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5230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3E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接続は理想化する。中身は関知しない。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55778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上位へ見せるエラーは 4 型のみ： Unreachable ／ ModelUnavailable ／ ResourceExhausted ／ BadRequest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280160"/>
            <a:ext cx="5486400" cy="5120640"/>
          </a:xfrm>
          <a:prstGeom prst="roundRect">
            <a:avLst>
              <a:gd name="adj" fmla="val 1607"/>
            </a:avLst>
          </a:prstGeom>
          <a:solidFill>
            <a:srgbClr val="F5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1572768"/>
            <a:ext cx="502920" cy="502920"/>
          </a:xfrm>
          <a:prstGeom prst="ellipse">
            <a:avLst/>
          </a:prstGeom>
          <a:solidFill>
            <a:srgbClr val="2B2B3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1572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ツールコールのループ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L0 の一発の chat を行動ループに育てる。ツールは Ollama ではなく mu が定義・実行する。モデルは「呼びたい意図」を返すだけ。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11112" y="3063240"/>
            <a:ext cx="365760" cy="365760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303580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mu が tools（関数の説明書）を渡して chat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93992" y="3447288"/>
            <a:ext cx="0" cy="164592"/>
          </a:xfrm>
          <a:prstGeom prst="line">
            <a:avLst/>
          </a:prstGeom>
          <a:noFill/>
          <a:ln w="19050">
            <a:solidFill>
              <a:srgbClr val="8C8C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11112" y="3630168"/>
            <a:ext cx="365760" cy="365760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31" name="Text 29"/>
          <p:cNvSpPr/>
          <p:nvPr/>
        </p:nvSpPr>
        <p:spPr>
          <a:xfrm>
            <a:off x="6611112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360273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モデルが tool_calls（呼びたい意図）を返す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93992" y="4014216"/>
            <a:ext cx="0" cy="164592"/>
          </a:xfrm>
          <a:prstGeom prst="line">
            <a:avLst/>
          </a:prstGeom>
          <a:noFill/>
          <a:ln w="19050">
            <a:solidFill>
              <a:srgbClr val="8C8C9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11112" y="4197096"/>
            <a:ext cx="365760" cy="365760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35" name="Text 33"/>
          <p:cNvSpPr/>
          <p:nvPr/>
        </p:nvSpPr>
        <p:spPr>
          <a:xfrm>
            <a:off x="661111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416966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mu がツールを実行し、結果を role:"tool" で戻す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793992" y="4581144"/>
            <a:ext cx="0" cy="164592"/>
          </a:xfrm>
          <a:prstGeom prst="line">
            <a:avLst/>
          </a:prstGeom>
          <a:noFill/>
          <a:ln w="19050">
            <a:solidFill>
              <a:srgbClr val="8C8C9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11112" y="4764024"/>
            <a:ext cx="365760" cy="365760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112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32320" y="473659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再び chat → 足りなければ ② へ、済めば終了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83680" y="5532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 mu は初めて外界に働きかける（Do）。「進んでいるか」の判断（Check / Act）はまだ持たない — それは外側の L2。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3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&amp; ORCHESTRATOR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外側の層 — L2 / L3 で PDCA が現れる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5120640"/>
          </a:xfrm>
          <a:prstGeom prst="roundRect">
            <a:avLst>
              <a:gd name="adj" fmla="val 1607"/>
            </a:avLst>
          </a:prstGeom>
          <a:solidFill>
            <a:srgbClr val="F5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572768"/>
            <a:ext cx="502920" cy="502920"/>
          </a:xfrm>
          <a:prstGeom prst="ellipse">
            <a:avLst/>
          </a:prstGeom>
          <a:solidFill>
            <a:srgbClr val="2B2B3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5727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Reflect ループ（エージェント）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 の上に「ゴールに向かって自立実行する」層を重ねる。足すのは Reflect（Check + Act）ただ一つ。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246120"/>
            <a:ext cx="148132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C8C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 を回す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（行動）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3886200"/>
            <a:ext cx="155448" cy="0"/>
          </a:xfrm>
          <a:prstGeom prst="line">
            <a:avLst/>
          </a:prstGeom>
          <a:noFill/>
          <a:ln w="25400">
            <a:solidFill>
              <a:srgbClr val="4A4A5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3246120"/>
            <a:ext cx="1481328" cy="1280160"/>
          </a:xfrm>
          <a:prstGeom prst="roundRect">
            <a:avLst>
              <a:gd name="adj" fmla="val 5000"/>
            </a:avLst>
          </a:prstGeom>
          <a:solidFill>
            <a:srgbClr val="C73E3A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335584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370332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6DD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達成した？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6DD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何が足りない？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69080" y="3886200"/>
            <a:ext cx="155448" cy="0"/>
          </a:xfrm>
          <a:prstGeom prst="line">
            <a:avLst/>
          </a:prstGeom>
          <a:noFill/>
          <a:ln w="25400">
            <a:solidFill>
              <a:srgbClr val="4A4A5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51960" y="3246120"/>
            <a:ext cx="148132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C8C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335584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370332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合格→終了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未達→継続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4709160"/>
            <a:ext cx="0" cy="320040"/>
          </a:xfrm>
          <a:prstGeom prst="line">
            <a:avLst/>
          </a:prstGeom>
          <a:noFill/>
          <a:ln w="22225">
            <a:solidFill>
              <a:srgbClr val="C73E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5029200"/>
            <a:ext cx="2971800" cy="0"/>
          </a:xfrm>
          <a:prstGeom prst="line">
            <a:avLst/>
          </a:prstGeom>
          <a:noFill/>
          <a:ln w="22225">
            <a:solidFill>
              <a:srgbClr val="C73E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4709160"/>
            <a:ext cx="0" cy="320040"/>
          </a:xfrm>
          <a:prstGeom prst="line">
            <a:avLst/>
          </a:prstGeom>
          <a:noFill/>
          <a:ln w="22225">
            <a:solidFill>
              <a:srgbClr val="C73E3A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1005840" y="5074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3E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未達なら next を再投入（＝そこで計画が生まれる）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57150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無状態（状態は messages のみ）・上限は呼び出し側が規定。ゴールは checkable な成功条件で与える。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1280160"/>
            <a:ext cx="5486400" cy="5120640"/>
          </a:xfrm>
          <a:prstGeom prst="roundRect">
            <a:avLst>
              <a:gd name="adj" fmla="val 1607"/>
            </a:avLst>
          </a:prstGeom>
          <a:solidFill>
            <a:srgbClr val="F5F5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1572768"/>
            <a:ext cx="502920" cy="502920"/>
          </a:xfrm>
          <a:prstGeom prst="ellipse">
            <a:avLst/>
          </a:prstGeom>
          <a:solidFill>
            <a:srgbClr val="2B2B3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15727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大域 Plan（オーケストレータ）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2240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 を「単位」として組み合わせ、複雑ゴールを完遂。PDCA 完全体 — 判断は外へ、実行は内で。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11112" y="3108960"/>
            <a:ext cx="384048" cy="384048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32" name="Text 30"/>
          <p:cNvSpPr/>
          <p:nvPr/>
        </p:nvSpPr>
        <p:spPr>
          <a:xfrm>
            <a:off x="661111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0815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複雑ゴールを checkable な単位へ分解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24160" y="31272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3E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HITL 承認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11112" y="3675888"/>
            <a:ext cx="384048" cy="384048"/>
          </a:xfrm>
          <a:prstGeom prst="ellipse">
            <a:avLst/>
          </a:prstGeom>
          <a:solidFill>
            <a:srgbClr val="4A4A52"/>
          </a:solidFill>
          <a:ln/>
        </p:spPr>
      </p:sp>
      <p:sp>
        <p:nvSpPr>
          <p:cNvPr id="36" name="Text 34"/>
          <p:cNvSpPr/>
          <p:nvPr/>
        </p:nvSpPr>
        <p:spPr>
          <a:xfrm>
            <a:off x="6611112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32320" y="36484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各単位を L2 が完遂 → 成果物ファイル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424160" y="36941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11112" y="4242816"/>
            <a:ext cx="384048" cy="384048"/>
          </a:xfrm>
          <a:prstGeom prst="ellipse">
            <a:avLst/>
          </a:prstGeom>
          <a:solidFill>
            <a:srgbClr val="4A4A52"/>
          </a:solidFill>
          <a:ln/>
        </p:spPr>
      </p:sp>
      <p:sp>
        <p:nvSpPr>
          <p:cNvPr id="40" name="Text 38"/>
          <p:cNvSpPr/>
          <p:nvPr/>
        </p:nvSpPr>
        <p:spPr>
          <a:xfrm>
            <a:off x="6611112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32320" y="42153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成果物を確認・失敗を検知・分析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424160" y="42611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11112" y="4809744"/>
            <a:ext cx="384048" cy="384048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44" name="Text 42"/>
          <p:cNvSpPr/>
          <p:nvPr/>
        </p:nvSpPr>
        <p:spPr>
          <a:xfrm>
            <a:off x="6611112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132320" y="47823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再計画（条件・アプローチの変更）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424160" y="48280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3E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HITL 承認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83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背骨はファイル・グラウンディング — 全単位は（task・出力ファイル・checkable 基準）。コードの基準はテストパス＝ L3 が TDD をオーケストレーションする。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3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NEWEST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L4 — 目的の層（Director：PdM + PjM）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1115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人間が自然に言えるのは「目的」であり、詳細な仕様ではない — その落差を埋める層。マルチエージェントを「役割を着せた L3 の逐次ループ」として実現する。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95681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2B2B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482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450592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人間の一言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51176" y="2720340"/>
            <a:ext cx="219456" cy="0"/>
          </a:xfrm>
          <a:prstGeom prst="line">
            <a:avLst/>
          </a:prstGeom>
          <a:noFill/>
          <a:ln w="25400">
            <a:solidFill>
              <a:srgbClr val="4A4A5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6352" y="1920240"/>
            <a:ext cx="1956816" cy="1600200"/>
          </a:xfrm>
          <a:prstGeom prst="roundRect">
            <a:avLst>
              <a:gd name="adj" fmla="val 4571"/>
            </a:avLst>
          </a:prstGeom>
          <a:solidFill>
            <a:srgbClr val="F5F5F6"/>
          </a:solidFill>
          <a:ln/>
        </p:spPr>
      </p:sp>
      <p:sp>
        <p:nvSpPr>
          <p:cNvPr id="11" name="Text 9"/>
          <p:cNvSpPr/>
          <p:nvPr/>
        </p:nvSpPr>
        <p:spPr>
          <a:xfrm>
            <a:off x="2816352" y="20482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89504" y="2450592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specify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 → SPEC.md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（定義＋受入基準）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18888" y="2720340"/>
            <a:ext cx="219456" cy="0"/>
          </a:xfrm>
          <a:prstGeom prst="line">
            <a:avLst/>
          </a:prstGeom>
          <a:noFill/>
          <a:ln w="25400">
            <a:solidFill>
              <a:srgbClr val="4A4A5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4064" y="1920240"/>
            <a:ext cx="1956816" cy="1600200"/>
          </a:xfrm>
          <a:prstGeom prst="roundRect">
            <a:avLst>
              <a:gd name="adj" fmla="val 4571"/>
            </a:avLst>
          </a:prstGeom>
          <a:solidFill>
            <a:srgbClr val="F5F5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84064" y="20482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PjM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57216" y="2450592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プロセス編成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役割注釈付きタスク列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人選（モデル割当）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86600" y="2720340"/>
            <a:ext cx="219456" cy="0"/>
          </a:xfrm>
          <a:prstGeom prst="line">
            <a:avLst/>
          </a:prstGeom>
          <a:noFill/>
          <a:ln w="25400">
            <a:solidFill>
              <a:srgbClr val="4A4A5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51776" y="1920240"/>
            <a:ext cx="1956816" cy="1600200"/>
          </a:xfrm>
          <a:prstGeom prst="roundRect">
            <a:avLst>
              <a:gd name="adj" fmla="val 4571"/>
            </a:avLst>
          </a:prstGeom>
          <a:solidFill>
            <a:srgbClr val="F5F5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51776" y="20482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24928" y="2450592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役割を着せた L3 が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タスクずつ完遂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（architect / implementer）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54312" y="2720340"/>
            <a:ext cx="219456" cy="0"/>
          </a:xfrm>
          <a:prstGeom prst="line">
            <a:avLst/>
          </a:prstGeom>
          <a:noFill/>
          <a:ln w="25400">
            <a:solidFill>
              <a:srgbClr val="4A4A5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19488" y="1920240"/>
            <a:ext cx="1956816" cy="1600200"/>
          </a:xfrm>
          <a:prstGeom prst="roundRect">
            <a:avLst>
              <a:gd name="adj" fmla="val 4571"/>
            </a:avLst>
          </a:prstGeom>
          <a:solidFill>
            <a:srgbClr val="FBEFEF"/>
          </a:solidFill>
          <a:ln/>
        </p:spPr>
      </p:sp>
      <p:sp>
        <p:nvSpPr>
          <p:cNvPr id="23" name="Text 21"/>
          <p:cNvSpPr/>
          <p:nvPr/>
        </p:nvSpPr>
        <p:spPr>
          <a:xfrm>
            <a:off x="9619488" y="20482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3E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92640" y="2450592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独立タスク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SPEC と実物だけを見て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verdict.md を書く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597896" y="3566160"/>
            <a:ext cx="0" cy="274320"/>
          </a:xfrm>
          <a:prstGeom prst="line">
            <a:avLst/>
          </a:prstGeom>
          <a:noFill/>
          <a:ln w="19050">
            <a:solidFill>
              <a:srgbClr val="C73E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62472" y="3840480"/>
            <a:ext cx="4535424" cy="0"/>
          </a:xfrm>
          <a:prstGeom prst="line">
            <a:avLst/>
          </a:prstGeom>
          <a:noFill/>
          <a:ln w="19050">
            <a:solidFill>
              <a:srgbClr val="C73E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62472" y="3566160"/>
            <a:ext cx="0" cy="274320"/>
          </a:xfrm>
          <a:prstGeom prst="line">
            <a:avLst/>
          </a:prstGeom>
          <a:noFill/>
          <a:ln w="19050">
            <a:solidFill>
              <a:srgbClr val="C73E3A"/>
            </a:solidFill>
            <a:prstDash val="solid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5788152" y="390448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3E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verdict / 失敗を受けて PjM が部分再実行を判断（escalate は人間へ＝再帰の底）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5F5F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782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roles/ — 役割定義書（PjM のナレッジベース）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5166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architect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構造・品質特性・設計規則を定義（実装はしない）
</a:t>
            </a:r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implementer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設計規則に従い実装・自己検証（品質ゲート）
</a:t>
            </a:r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qa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実物と実行結果だけで判定。推測しない。修正しない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61772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2B2B30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4782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決定論の床 — LLM に任せない部分はコードが保証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5166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9E9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・QA タスクが無ければコードが必ず足す（検証は飛ばせない）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9E9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・部分再実行の依存伝播はコード。QA は必ず再実行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9E9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・壊れた verdict / 判断は安全側（uncertain / escalate）に落ちる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3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リポジトリ構成 — 構造規約「1 層 = 1 ファイル」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669280" cy="5120640"/>
          </a:xfrm>
          <a:prstGeom prst="roundRect">
            <a:avLst>
              <a:gd name="adj" fmla="val 1607"/>
            </a:avLst>
          </a:prstGeom>
          <a:solidFill>
            <a:srgbClr val="2B2B3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36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536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コア（自律性の層）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l0.py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3240" y="1938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Ollama インタフェース（203 行）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3408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l1.py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63240" y="23408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ツールコールのループ（189 行）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l2.py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6324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Reflect ループ / Agent（181 行）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1455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l3.py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3240" y="3145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大域 Plan / Orchestrator（308 行）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547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l4.py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63240" y="3547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目的の層 / Director（589 行）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950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tools.py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63240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検証用ツール群（read/write/edit/exec）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3525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roles/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63240" y="4352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役割定義書（architect / implementer / qa）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754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l0〜l4_chat.py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6324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各層を直接触る最小 CLI チャット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51572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63240" y="51572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各層のユニット＋実接続 live テスト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55595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· runs/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63240" y="5559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実験記録・レビュー・実走ログ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5961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probe_*.py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063240" y="5961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非対話の自動検証プローブ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構造規約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92240" y="1783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層番号がそのままファイル名になる（mu/l0.py・l1.py …）。1 ファイルに収まらなくなったら「層が厚すぎ」のシグナル — 分割より先に責務を見直す。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依存は 2 つだけ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92240" y="3200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73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（公式クライアント）＋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73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（その基盤）。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3.11+。フレームワークは使わない。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4251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~1,470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492240" y="49560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 5 層の総行数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（mu/ 配下）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75320" y="4251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8275320" y="49560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 green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（ユニット＋live）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58400" y="4251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10058400" y="49560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外部依存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（ollama・httpx）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92240" y="58064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自律性の層の外に「設定系」（モデル管理 API）— エージェントのループには属さず、初期化に使う。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3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現状と今後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35353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ln w="25400">
            <a:solidFill>
              <a:srgbClr val="C73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北極星 到達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9B9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GUI を持つアプリの自走完遂を実機で達成（2026-07-19）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14173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35353C"/>
          </a:solidFill>
          <a:ln/>
        </p:spPr>
      </p:sp>
      <p:sp>
        <p:nvSpPr>
          <p:cNvPr id="10" name="Shape 8"/>
          <p:cNvSpPr/>
          <p:nvPr/>
        </p:nvSpPr>
        <p:spPr>
          <a:xfrm>
            <a:off x="4654296" y="1737360"/>
            <a:ext cx="457200" cy="457200"/>
          </a:xfrm>
          <a:prstGeom prst="ellipse">
            <a:avLst/>
          </a:prstGeom>
          <a:ln w="25400">
            <a:solidFill>
              <a:srgbClr val="C73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4376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偽・完遂 0 / 6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54296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9B9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L4 実験 6 走すべてが「本物の達成」か「正直な escalate」（2026-08-01）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19872" y="14173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35353C"/>
          </a:solidFill>
          <a:ln/>
        </p:spPr>
      </p:sp>
      <p:sp>
        <p:nvSpPr>
          <p:cNvPr id="14" name="Shape 12"/>
          <p:cNvSpPr/>
          <p:nvPr/>
        </p:nvSpPr>
        <p:spPr>
          <a:xfrm>
            <a:off x="8439912" y="1737360"/>
            <a:ext cx="457200" cy="457200"/>
          </a:xfrm>
          <a:prstGeom prst="ellipse">
            <a:avLst/>
          </a:prstGeom>
          <a:ln w="25400">
            <a:solidFill>
              <a:srgbClr val="C73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9992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QA の独立検証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39912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9B9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別文脈の QA が PjM 自身の設計ミスを実機で検出 — 文脈隔離の実証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今後（LONGTERM TODO・合意 007 で順序確定）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4343400"/>
            <a:ext cx="365760" cy="365760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3159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能力側の床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431596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9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check の反証テスト（成果物なしで合格する check を弾く）・specify に unsatisfiable チャネル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910328"/>
            <a:ext cx="365760" cy="365760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8289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媒体統合＋deps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91840" y="488289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9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unit/task を単一 WBS 項目型へ統合・依存の明示 deps（散文部分一致の廃止・並列化の前提）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477256"/>
            <a:ext cx="365760" cy="365760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54498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役割の対称化ほか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91840" y="544982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9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PdM / PjM を roles/ へ・tools の sh バックエンド＋CI で回帰スイート化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8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設計は変わらず — 内側から育てる。判断は外へ、実行は内で。再帰の底は人間。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2026-08-05T01:28:04Z</dcterms:created>
  <dcterms:modified xsi:type="dcterms:W3CDTF">2026-08-05T01:28:04Z</dcterms:modified>
</cp:coreProperties>
</file>